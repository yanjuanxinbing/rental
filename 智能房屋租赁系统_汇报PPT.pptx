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0"/>
            <a:ext cx="109728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0" y="4754880"/>
            <a:ext cx="4114800" cy="3657600"/>
          </a:xfrm>
          <a:prstGeom prst="rect">
            <a:avLst/>
          </a:prstGeom>
          <a:solidFill>
            <a:srgbClr val="15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6B6D4"/>
                </a:solidFill>
                <a:latin typeface="Microsoft YaHei"/>
              </a:rPr>
              <a:t>软件工程  课程设计汇报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4400" b="1">
                <a:solidFill>
                  <a:srgbClr val="FFFFFF"/>
                </a:solidFill>
                <a:latin typeface="Microsoft YaHei"/>
              </a:rPr>
              <a:t>智能房屋租赁系统</a:t>
            </a:r>
          </a:p>
          <a:p>
            <a:pPr algn="l">
              <a:spcBef>
                <a:spcPts val="600"/>
              </a:spcBef>
            </a:pPr>
            <a:r>
              <a:rPr sz="1800" b="0">
                <a:solidFill>
                  <a:srgbClr val="93C5FD"/>
                </a:solidFill>
                <a:latin typeface="Microsoft YaHei"/>
              </a:rPr>
              <a:t>Smart House Rental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337560"/>
            <a:ext cx="50292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52044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>
                <a:solidFill>
                  <a:srgbClr val="CBD5E1"/>
                </a:solidFill>
                <a:latin typeface="Microsoft YaHei"/>
              </a:rPr>
              <a:t>基于 Flask + SQLAlchemy 构建的 B/S 架构多角色租房平台</a:t>
            </a:r>
          </a:p>
          <a:p>
            <a:pPr algn="l">
              <a:spcBef>
                <a:spcPts val="0"/>
              </a:spcBef>
            </a:pPr>
            <a:r>
              <a:rPr sz="8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0"/>
              </a:spcBef>
            </a:pPr>
            <a:r>
              <a:rPr sz="1300" b="0">
                <a:solidFill>
                  <a:srgbClr val="CBD5E1"/>
                </a:solidFill>
                <a:latin typeface="Microsoft YaHei"/>
              </a:rPr>
              <a:t>支持租客找房、房东发布、管理员审核全流程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6A9A"/>
                </a:solidFill>
                <a:latin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icrosoft YaHei"/>
              </a:rPr>
              <a:t>项目背景与目标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3C5FD"/>
                </a:solidFill>
                <a:latin typeface="Microsoft YaHei"/>
              </a:rPr>
              <a:t>Background &amp;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Microsoft YaHe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Microsoft YaHei"/>
              </a:rPr>
              <a:t>随着城镇化进程加快，房屋租赁需求持续增长，传统中介模式存在信息不透明、流程繁琐等痛点。本项目旨在构建一套线上租赁平台，实现房源信息化管理与多角色协同工作流。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3657600" cy="42062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36576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774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  <a:latin typeface="Microsoft YaHei"/>
              </a:rPr>
              <a:t>找房便捷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64748B"/>
                </a:solidFill>
                <a:latin typeface="Microsoft YaHei"/>
              </a:rPr>
              <a:t>•  租客可按城市、类型、价格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64748B"/>
                </a:solidFill>
                <a:latin typeface="Microsoft YaHei"/>
              </a:rPr>
              <a:t>•  关键词多维度搜索房源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64748B"/>
                </a:solidFill>
                <a:latin typeface="Microsoft YaHei"/>
              </a:rPr>
              <a:t>•  在线预约看房一键完成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61688" y="2240280"/>
            <a:ext cx="3657600" cy="42062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1688" y="2240280"/>
            <a:ext cx="36576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23774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Microsoft YaHei"/>
              </a:rPr>
              <a:t>房源管理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926080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64748B"/>
                </a:solidFill>
                <a:latin typeface="Microsoft YaHei"/>
              </a:rPr>
              <a:t>•  房东自主发布、管理房源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64748B"/>
                </a:solidFill>
                <a:latin typeface="Microsoft YaHei"/>
              </a:rPr>
              <a:t>•  实时查看预约申请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64748B"/>
                </a:solidFill>
                <a:latin typeface="Microsoft YaHei"/>
              </a:rPr>
              <a:t>•  支持下架与重新上架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66175" y="2240280"/>
            <a:ext cx="3657600" cy="42062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66175" y="2240280"/>
            <a:ext cx="36576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49055" y="23774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  <a:latin typeface="Microsoft YaHei"/>
              </a:rPr>
              <a:t>平台监管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5" y="2926080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64748B"/>
                </a:solidFill>
                <a:latin typeface="Microsoft YaHei"/>
              </a:rPr>
              <a:t>•  管理员审核房源信息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64748B"/>
                </a:solidFill>
                <a:latin typeface="Microsoft YaHei"/>
              </a:rPr>
              <a:t>•  查看全部房源与订单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64748B"/>
                </a:solidFill>
                <a:latin typeface="Microsoft YaHei"/>
              </a:rPr>
              <a:t>•  强制下架违规内容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icrosoft YaHei"/>
              </a:rPr>
              <a:t>需求分析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3C5FD"/>
                </a:solidFill>
                <a:latin typeface="Microsoft YaHei"/>
              </a:rPr>
              <a:t>Requirements Analysis — User Roles &amp; Use Cases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Microsoft YaHei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280160"/>
            <a:ext cx="365760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0759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YaHei"/>
              </a:rPr>
              <a:t>租  客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901952"/>
            <a:ext cx="3657600" cy="594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901952"/>
            <a:ext cx="36576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0116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  <a:latin typeface="Microsoft YaHei"/>
              </a:rPr>
              <a:t>注册 / 登录账号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606040"/>
            <a:ext cx="36576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2606040"/>
            <a:ext cx="36576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71576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  <a:latin typeface="Microsoft YaHei"/>
              </a:rPr>
              <a:t>浏览 / 搜索房源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310128"/>
            <a:ext cx="3657600" cy="594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310128"/>
            <a:ext cx="36576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419856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  <a:latin typeface="Microsoft YaHei"/>
              </a:rPr>
              <a:t>查看房源详情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014216"/>
            <a:ext cx="36576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4014216"/>
            <a:ext cx="36576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12394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  <a:latin typeface="Microsoft YaHei"/>
              </a:rPr>
              <a:t>提交看房预约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718304"/>
            <a:ext cx="3657600" cy="594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4718304"/>
            <a:ext cx="36576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82803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  <a:latin typeface="Microsoft YaHei"/>
              </a:rPr>
              <a:t>管理个人预约记录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5422392"/>
            <a:ext cx="36576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5422392"/>
            <a:ext cx="36576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5321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  <a:latin typeface="Microsoft YaHei"/>
              </a:rPr>
              <a:t>取消预约申请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15968" y="1280160"/>
            <a:ext cx="365760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15968" y="130759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YaHei"/>
              </a:rPr>
              <a:t>房  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15968" y="1901952"/>
            <a:ext cx="3657600" cy="594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15968" y="1901952"/>
            <a:ext cx="36576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53128" y="20116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  <a:latin typeface="Microsoft YaHei"/>
              </a:rPr>
              <a:t>注册房东账号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15968" y="2606040"/>
            <a:ext cx="36576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15968" y="2606040"/>
            <a:ext cx="36576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53128" y="271576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  <a:latin typeface="Microsoft YaHei"/>
              </a:rPr>
              <a:t>发布 / 编辑房源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15968" y="3310128"/>
            <a:ext cx="3657600" cy="594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15968" y="3310128"/>
            <a:ext cx="36576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53128" y="3419856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  <a:latin typeface="Microsoft YaHei"/>
              </a:rPr>
              <a:t>上传房源封面图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15968" y="4014216"/>
            <a:ext cx="36576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15968" y="4014216"/>
            <a:ext cx="36576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53128" y="412394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  <a:latin typeface="Microsoft YaHei"/>
              </a:rPr>
              <a:t>查看收到的预约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15968" y="4718304"/>
            <a:ext cx="3657600" cy="594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15968" y="4718304"/>
            <a:ext cx="36576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53128" y="482803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  <a:latin typeface="Microsoft YaHei"/>
              </a:rPr>
              <a:t>确认 / 拒绝预约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15968" y="5422392"/>
            <a:ext cx="36576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315968" y="5422392"/>
            <a:ext cx="36576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53128" y="55321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  <a:latin typeface="Microsoft YaHei"/>
              </a:rPr>
              <a:t>下架 / 重新上架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20455" y="1280160"/>
            <a:ext cx="365760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0455" y="130759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YaHei"/>
              </a:rPr>
              <a:t>管理员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20455" y="1901952"/>
            <a:ext cx="3657600" cy="594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220455" y="1901952"/>
            <a:ext cx="36576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57615" y="20116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  <a:latin typeface="Microsoft YaHei"/>
              </a:rPr>
              <a:t>查看平台统计数据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20455" y="2606040"/>
            <a:ext cx="36576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220455" y="2606040"/>
            <a:ext cx="36576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57615" y="271576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  <a:latin typeface="Microsoft YaHei"/>
              </a:rPr>
              <a:t>审核待上架房源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20455" y="3310128"/>
            <a:ext cx="3657600" cy="594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220455" y="3310128"/>
            <a:ext cx="36576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57615" y="3419856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  <a:latin typeface="Microsoft YaHei"/>
              </a:rPr>
              <a:t>通过 / 拒绝审核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220455" y="4014216"/>
            <a:ext cx="36576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220455" y="4014216"/>
            <a:ext cx="36576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57615" y="412394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  <a:latin typeface="Microsoft YaHei"/>
              </a:rPr>
              <a:t>查看全部房源列表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20455" y="4718304"/>
            <a:ext cx="3657600" cy="594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220455" y="4718304"/>
            <a:ext cx="36576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57615" y="482803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  <a:latin typeface="Microsoft YaHei"/>
              </a:rPr>
              <a:t>强制下架违规房源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220455" y="5422392"/>
            <a:ext cx="36576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220455" y="5422392"/>
            <a:ext cx="36576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357615" y="55321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  <a:latin typeface="Microsoft YaHei"/>
              </a:rPr>
              <a:t>管理所有订单信息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icrosoft YaHei"/>
              </a:rPr>
              <a:t>系统架构设计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3C5FD"/>
                </a:solidFill>
                <a:latin typeface="Microsoft YaHei"/>
              </a:rPr>
              <a:t>System Architecture — MVC + Blueprint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Microsoft YaHei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6400800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YaHei"/>
              </a:rPr>
              <a:t>表现层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74519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F2FE"/>
                </a:solidFill>
                <a:latin typeface="Microsoft YaHei"/>
              </a:rPr>
              <a:t>Jinja2 模板 + Bootstrap 5 + Bootstrap Icons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3317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Microsoft YaHei"/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560320"/>
            <a:ext cx="6400800" cy="10058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65176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YaHei"/>
              </a:rPr>
              <a:t>控制层 Controller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063239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F2FE"/>
                </a:solidFill>
                <a:latin typeface="Microsoft YaHei"/>
              </a:rPr>
              <a:t>Flask Blueprint（auth / house / user / admin）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520439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Microsoft YaHei"/>
              </a:rP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49039"/>
            <a:ext cx="6400800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840479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YaHei"/>
              </a:rPr>
              <a:t>服务层 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251959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F2FE"/>
                </a:solidFill>
                <a:latin typeface="Microsoft YaHei"/>
              </a:rPr>
              <a:t>业务逻辑 · 图片处理（Pillow）· 权限校验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4709159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Microsoft YaHei"/>
              </a:rPr>
              <a:t>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937760"/>
            <a:ext cx="6400800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02920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YaHei"/>
              </a:rPr>
              <a:t>数据层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44068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F2FE"/>
                </a:solidFill>
                <a:latin typeface="Microsoft YaHei"/>
              </a:rPr>
              <a:t>SQLAlchemy ORM + Flask-Migrate + PostgreSQL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0" y="1280160"/>
            <a:ext cx="4663440" cy="5212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32320" y="1280160"/>
            <a:ext cx="466344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3760" y="1307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YaHei"/>
              </a:rPr>
              <a:t>项目目录结构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1783080"/>
            <a:ext cx="43891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1E3A5F"/>
                </a:solidFill>
                <a:latin typeface="Consolas"/>
              </a:rPr>
              <a:t>app.py             应用入口 &amp; 工厂函数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E3A5F"/>
                </a:solidFill>
                <a:latin typeface="Consolas"/>
              </a:rPr>
              <a:t>extensions.py      db / login / migrate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E3A5F"/>
                </a:solidFill>
                <a:latin typeface="Consolas"/>
              </a:rPr>
              <a:t>requirements.txt   依赖清单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E3A5F"/>
                </a:solidFill>
                <a:latin typeface="Consolas"/>
              </a:rPr>
              <a:t>models/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64748B"/>
                </a:solidFill>
                <a:latin typeface="Consolas"/>
              </a:rPr>
              <a:t>    user.py   house.py   order.py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E3A5F"/>
                </a:solidFill>
                <a:latin typeface="Consolas"/>
              </a:rPr>
              <a:t>routes/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64748B"/>
                </a:solidFill>
                <a:latin typeface="Consolas"/>
              </a:rPr>
              <a:t>    auth.py   house.py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64748B"/>
                </a:solidFill>
                <a:latin typeface="Consolas"/>
              </a:rPr>
              <a:t>    user.py   admin.py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E3A5F"/>
                </a:solidFill>
                <a:latin typeface="Consolas"/>
              </a:rPr>
              <a:t>templates/         Jinja2 模板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1E3A5F"/>
                </a:solidFill>
                <a:latin typeface="Consolas"/>
              </a:rPr>
              <a:t>static/img/uploads 上传图片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icrosoft YaHei"/>
              </a:rPr>
              <a:t>数据库设计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3C5FD"/>
                </a:solidFill>
                <a:latin typeface="Microsoft YaHei"/>
              </a:rPr>
              <a:t>Database Design — 3 Core Entities &amp; 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Microsoft YaHei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80160"/>
            <a:ext cx="3749039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29844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YaHei"/>
              </a:rPr>
              <a:t>users（用户表）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737360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1051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5F"/>
                </a:solidFill>
                <a:latin typeface="Microsoft YaHei"/>
              </a:rPr>
              <a:t>id            主键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231136"/>
            <a:ext cx="374903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30428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5F"/>
                </a:solidFill>
                <a:latin typeface="Microsoft YaHei"/>
              </a:rPr>
              <a:t>username      用户名（唯一）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724912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798064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5F"/>
                </a:solidFill>
                <a:latin typeface="Microsoft YaHei"/>
              </a:rPr>
              <a:t>email         邮箱（唯一）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218688"/>
            <a:ext cx="374903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29184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5F"/>
                </a:solidFill>
                <a:latin typeface="Microsoft YaHei"/>
              </a:rPr>
              <a:t>password_hash 哈希密码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712464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785616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5F"/>
                </a:solidFill>
                <a:latin typeface="Microsoft YaHei"/>
              </a:rPr>
              <a:t>phone         联系电话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206240"/>
            <a:ext cx="374903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27939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5F"/>
                </a:solidFill>
                <a:latin typeface="Microsoft YaHei"/>
              </a:rPr>
              <a:t>role          角色 0租客/1房东/2管理员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700016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77316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5F"/>
                </a:solidFill>
                <a:latin typeface="Microsoft YaHei"/>
              </a:rPr>
              <a:t>created_at    注册时间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79" y="1280160"/>
            <a:ext cx="3749039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19" y="129844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YaHei"/>
              </a:rPr>
              <a:t>houses（房源表）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79" y="1737360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181051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5F"/>
                </a:solidFill>
                <a:latin typeface="Microsoft YaHei"/>
              </a:rPr>
              <a:t>id            主键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79" y="2231136"/>
            <a:ext cx="374903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230428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5F"/>
                </a:solidFill>
                <a:latin typeface="Microsoft YaHei"/>
              </a:rPr>
              <a:t>title         标题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79" y="2724912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34840" y="2798064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5F"/>
                </a:solidFill>
                <a:latin typeface="Microsoft YaHei"/>
              </a:rPr>
              <a:t>price         月租金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79" y="3218688"/>
            <a:ext cx="374903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329184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5F"/>
                </a:solidFill>
                <a:latin typeface="Microsoft YaHei"/>
              </a:rPr>
              <a:t>area          面积㎡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97679" y="3712464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4840" y="3785616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5F"/>
                </a:solidFill>
                <a:latin typeface="Microsoft YaHei"/>
              </a:rPr>
              <a:t>rooms/halls/bathrooms  户型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7679" y="4206240"/>
            <a:ext cx="374903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34840" y="427939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5F"/>
                </a:solidFill>
                <a:latin typeface="Microsoft YaHei"/>
              </a:rPr>
              <a:t>city / district / address 位置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97679" y="4700016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34840" y="477316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5F"/>
                </a:solidFill>
                <a:latin typeface="Microsoft YaHei"/>
              </a:rPr>
              <a:t>house_type    整租/合租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97679" y="5193792"/>
            <a:ext cx="374903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34840" y="5266944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5F"/>
                </a:solidFill>
                <a:latin typeface="Microsoft YaHei"/>
              </a:rPr>
              <a:t>cover_img     封面图片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97679" y="5687568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34840" y="576072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5F"/>
                </a:solidFill>
                <a:latin typeface="Microsoft YaHei"/>
              </a:rPr>
              <a:t>status        0审核中/1上架/3下架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97679" y="6181344"/>
            <a:ext cx="374903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34840" y="6254496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5F"/>
                </a:solidFill>
                <a:latin typeface="Microsoft YaHei"/>
              </a:rPr>
              <a:t>landlord_id   → users.id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75319" y="1280160"/>
            <a:ext cx="3749039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66759" y="129844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YaHei"/>
              </a:rPr>
              <a:t>orders（预约表）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75319" y="1737360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12480" y="181051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5F"/>
                </a:solidFill>
                <a:latin typeface="Microsoft YaHei"/>
              </a:rPr>
              <a:t>id            主键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75319" y="2231136"/>
            <a:ext cx="374903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12480" y="230428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5F"/>
                </a:solidFill>
                <a:latin typeface="Microsoft YaHei"/>
              </a:rPr>
              <a:t>house_id      → houses.id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75319" y="2724912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12480" y="2798064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5F"/>
                </a:solidFill>
                <a:latin typeface="Microsoft YaHei"/>
              </a:rPr>
              <a:t>tenant_id     → users.id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75319" y="3218688"/>
            <a:ext cx="374903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12480" y="329184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5F"/>
                </a:solidFill>
                <a:latin typeface="Microsoft YaHei"/>
              </a:rPr>
              <a:t>visit_date    看房时间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75319" y="3712464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12480" y="3785616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5F"/>
                </a:solidFill>
                <a:latin typeface="Microsoft YaHei"/>
              </a:rPr>
              <a:t>message       租客留言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275319" y="4206240"/>
            <a:ext cx="374903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412480" y="427939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5F"/>
                </a:solidFill>
                <a:latin typeface="Microsoft YaHei"/>
              </a:rPr>
              <a:t>status        0待确认/1已确认/3已取消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275319" y="4700016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12480" y="477316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5F"/>
                </a:solidFill>
                <a:latin typeface="Microsoft YaHei"/>
              </a:rPr>
              <a:t>created_at    提交时间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0040" y="6400800"/>
            <a:ext cx="11521440" cy="3200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6428232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563EB"/>
                </a:solidFill>
                <a:latin typeface="Microsoft YaHei"/>
              </a:rPr>
              <a:t>关系：users(1) ─── houses(N)   ·   users(1) ─── orders(N)   ·   houses(1) ─── orders(N)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icrosoft YaHei"/>
              </a:rPr>
              <a:t>核心功能展示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3C5FD"/>
                </a:solidFill>
                <a:latin typeface="Microsoft YaHei"/>
              </a:rPr>
              <a:t>Core Features — End-to-End Rental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Microsoft YaHei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3749039" cy="23774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374903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35607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Microsoft YaHei"/>
              </a:rPr>
              <a:t>房源浏览与搜索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828800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64748B"/>
                </a:solidFill>
                <a:latin typeface="Microsoft YaHei"/>
              </a:rPr>
              <a:t>  首页展示最新 8 套上架房源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64748B"/>
                </a:solidFill>
                <a:latin typeface="Microsoft YaHei"/>
              </a:rPr>
              <a:t>  按城市快捷筛选入口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64748B"/>
                </a:solidFill>
                <a:latin typeface="Microsoft YaHei"/>
              </a:rPr>
              <a:t>  关键词搜索（标题/城市/标签）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64748B"/>
                </a:solidFill>
                <a:latin typeface="Microsoft YaHei"/>
              </a:rPr>
              <a:t>  侧边栏多维度过滤（类型/价格）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0248" y="1325880"/>
            <a:ext cx="3749039" cy="23774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0248" y="1325880"/>
            <a:ext cx="3749039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8" y="1435607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Microsoft YaHei"/>
              </a:rPr>
              <a:t>房源发布审核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1828800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64748B"/>
                </a:solidFill>
                <a:latin typeface="Microsoft YaHei"/>
              </a:rPr>
              <a:t>  房东填写完整房源信息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64748B"/>
                </a:solidFill>
                <a:latin typeface="Microsoft YaHei"/>
              </a:rPr>
              <a:t>  上传封面图（自动 letterbox 处理）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64748B"/>
                </a:solidFill>
                <a:latin typeface="Microsoft YaHei"/>
              </a:rPr>
              <a:t>  提交后进入审核队列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64748B"/>
                </a:solidFill>
                <a:latin typeface="Microsoft YaHei"/>
              </a:rPr>
              <a:t>  管理员一键通过或拒绝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74736" y="1325880"/>
            <a:ext cx="3749039" cy="23774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74736" y="1325880"/>
            <a:ext cx="3749039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11896" y="1435607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Microsoft YaHei"/>
              </a:rPr>
              <a:t>预约看房流程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1896" y="1828800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64748B"/>
                </a:solidFill>
                <a:latin typeface="Microsoft YaHei"/>
              </a:rPr>
              <a:t>  租客选择意向日期时间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64748B"/>
                </a:solidFill>
                <a:latin typeface="Microsoft YaHei"/>
              </a:rPr>
              <a:t>  填写看房留言（可选）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64748B"/>
                </a:solidFill>
                <a:latin typeface="Microsoft YaHei"/>
              </a:rPr>
              <a:t>  房东收到通知并确认 / 拒绝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64748B"/>
                </a:solidFill>
                <a:latin typeface="Microsoft YaHei"/>
              </a:rPr>
              <a:t>  租客可随时取消待确认预约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931920"/>
            <a:ext cx="3749039" cy="23774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931920"/>
            <a:ext cx="3749039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04164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Microsoft YaHei"/>
              </a:rPr>
              <a:t>房东房源管理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434840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64748B"/>
                </a:solidFill>
                <a:latin typeface="Microsoft YaHei"/>
              </a:rPr>
              <a:t>  查看全部自有房源与状态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64748B"/>
                </a:solidFill>
                <a:latin typeface="Microsoft YaHei"/>
              </a:rPr>
              <a:t>  已上架房源可一键下架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64748B"/>
                </a:solidFill>
                <a:latin typeface="Microsoft YaHei"/>
              </a:rPr>
              <a:t>  下架后可重新提交审核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64748B"/>
                </a:solidFill>
                <a:latin typeface="Microsoft YaHei"/>
              </a:rPr>
              <a:t>  待确认预约集中展示处理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70248" y="3931920"/>
            <a:ext cx="3749039" cy="23774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70248" y="3931920"/>
            <a:ext cx="3749039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07408" y="404164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Microsoft YaHei"/>
              </a:rPr>
              <a:t>管理员后台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7408" y="4434840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64748B"/>
                </a:solidFill>
                <a:latin typeface="Microsoft YaHei"/>
              </a:rPr>
              <a:t>  统计面板：用户/房源/订单数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64748B"/>
                </a:solidFill>
                <a:latin typeface="Microsoft YaHei"/>
              </a:rPr>
              <a:t>  Tab 分类：待审核/已上架/全部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64748B"/>
                </a:solidFill>
                <a:latin typeface="Microsoft YaHei"/>
              </a:rPr>
              <a:t>  已上架房源可强制下架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64748B"/>
                </a:solidFill>
                <a:latin typeface="Microsoft YaHei"/>
              </a:rPr>
              <a:t>  一键通过 / 拒绝待审核房源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74736" y="3931920"/>
            <a:ext cx="3749039" cy="23774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74736" y="3931920"/>
            <a:ext cx="3749039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11896" y="404164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Microsoft YaHei"/>
              </a:rPr>
              <a:t>账号权限体系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1896" y="4434840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64748B"/>
                </a:solidFill>
                <a:latin typeface="Microsoft YaHei"/>
              </a:rPr>
              <a:t>  注册时选择租客或房东身份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64748B"/>
                </a:solidFill>
                <a:latin typeface="Microsoft YaHei"/>
              </a:rPr>
              <a:t>  管理员账号后台预置，不开放注册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64748B"/>
                </a:solidFill>
                <a:latin typeface="Microsoft YaHei"/>
              </a:rPr>
              <a:t>  登录后动态显示对应功能菜单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64748B"/>
                </a:solidFill>
                <a:latin typeface="Microsoft YaHei"/>
              </a:rPr>
              <a:t>  越权操作返回错误提示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icrosoft YaHei"/>
              </a:rPr>
              <a:t>技术栈与关键实现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3C5FD"/>
                </a:solidFill>
                <a:latin typeface="Microsoft YaHei"/>
              </a:rPr>
              <a:t>Tech Stack &amp; Key Implementation Details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Microsoft YaHei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713232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0759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icrosoft YaHei"/>
              </a:rPr>
              <a:t>技术分类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3075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icrosoft YaHei"/>
              </a:rPr>
              <a:t>技术选型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307592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icrosoft YaHei"/>
              </a:rPr>
              <a:t>说明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664208"/>
            <a:ext cx="7132320" cy="594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773936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Microsoft YaHei"/>
              </a:rPr>
              <a:t>后端框架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1773936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Microsoft YaHei"/>
              </a:rPr>
              <a:t>Flask 3.x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1773936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Microsoft YaHei"/>
              </a:rPr>
              <a:t>轻量级 Python Web 框架，Blueprint 模块化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276856"/>
            <a:ext cx="71323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38658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Microsoft YaHei"/>
              </a:rPr>
              <a:t>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38658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Microsoft YaHei"/>
              </a:rPr>
              <a:t>SQLAlchemy 3.x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2386584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Microsoft YaHei"/>
              </a:rPr>
              <a:t>声明式数据模型，支持 SQLite / PostgreSQL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889504"/>
            <a:ext cx="7132320" cy="594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99923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Microsoft YaHei"/>
              </a:rPr>
              <a:t>迁移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299923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Microsoft YaHei"/>
              </a:rPr>
              <a:t>Flask-Migrate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299923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Microsoft YaHei"/>
              </a:rPr>
              <a:t>基于 Alembic，数据库版本管理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502152"/>
            <a:ext cx="71323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61188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Microsoft YaHei"/>
              </a:rPr>
              <a:t>认证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61188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Microsoft YaHei"/>
              </a:rPr>
              <a:t>Flask-Login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361188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Microsoft YaHei"/>
              </a:rPr>
              <a:t>会话管理、登录保护、角色权限装饰器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114800"/>
            <a:ext cx="7132320" cy="594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22452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Microsoft YaHei"/>
              </a:rPr>
              <a:t>图片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22452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Microsoft YaHei"/>
              </a:rPr>
              <a:t>Pillow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4224528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Microsoft YaHei"/>
              </a:rPr>
              <a:t>封面图 letterbox 处理，统一 800×400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727448"/>
            <a:ext cx="71323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4837176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Microsoft YaHei"/>
              </a:rPr>
              <a:t>前端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837176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Microsoft YaHei"/>
              </a:rPr>
              <a:t>Bootstrap 5 + Jinja2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280" y="4837176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Microsoft YaHei"/>
              </a:rPr>
              <a:t>响应式布局，服务端渲染模板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340096"/>
            <a:ext cx="7132320" cy="594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544982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Microsoft YaHei"/>
              </a:rPr>
              <a:t>部署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4982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Microsoft YaHei"/>
              </a:rPr>
              <a:t>Gunicorn + PostgreSQL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26280" y="5449824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Microsoft YaHei"/>
              </a:rPr>
              <a:t>生产 WSGI 服务器，云数据库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0" y="1280160"/>
            <a:ext cx="4023360" cy="52120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0" y="1280160"/>
            <a:ext cx="402336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82127" y="1307592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YaHei"/>
              </a:rPr>
              <a:t>关键实现要点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18120" y="1783080"/>
            <a:ext cx="274320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83879" y="1764792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Microsoft YaHei"/>
              </a:rPr>
              <a:t>应用工厂模式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83879" y="207568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Microsoft YaHei"/>
              </a:rPr>
              <a:t>create_app() + Blueprint 注册，便于扩展和测试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18120" y="2697480"/>
            <a:ext cx="274320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83879" y="2679192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Microsoft YaHei"/>
              </a:rPr>
              <a:t>图片 Letterbox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83879" y="299008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Microsoft YaHei"/>
              </a:rPr>
              <a:t>Pillow 等比缩放后居中裁白边，统一显示规格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18120" y="3611880"/>
            <a:ext cx="274320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83879" y="3593592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Microsoft YaHei"/>
              </a:rPr>
              <a:t>角色权限装饰器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83879" y="390448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Microsoft YaHei"/>
              </a:rPr>
              <a:t>@login_required + is_admin()/is_landlord() 多级控制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818120" y="4526280"/>
            <a:ext cx="274320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83879" y="4507992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Microsoft YaHei"/>
              </a:rPr>
              <a:t>安全输入处理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83879" y="481888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Microsoft YaHei"/>
              </a:rPr>
              <a:t>注册 role 上限=1，数字字段安全转换防 500 错误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18120" y="5440680"/>
            <a:ext cx="274320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83879" y="5422392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Microsoft YaHei"/>
              </a:rPr>
              <a:t>演示数据种子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83879" y="573328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Microsoft YaHei"/>
              </a:rPr>
              <a:t>seed.py 一键初始化三种角色 + 8 套样本房源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icrosoft YaHei"/>
              </a:rPr>
              <a:t>演示账号与测试流程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3C5FD"/>
                </a:solidFill>
                <a:latin typeface="Microsoft YaHei"/>
              </a:rPr>
              <a:t>Demo Accounts &amp; Test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Microsoft YaHei"/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1143000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5331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YaHei"/>
              </a:rPr>
              <a:t>角色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35331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YaHei"/>
              </a:rPr>
              <a:t>用户名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35331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YaHei"/>
              </a:rPr>
              <a:t>密码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135331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YaHei"/>
              </a:rPr>
              <a:t>主要操作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709928"/>
            <a:ext cx="11430000" cy="594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1709928"/>
            <a:ext cx="36576" cy="5943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183794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  <a:latin typeface="Microsoft YaHei"/>
              </a:rPr>
              <a:t>管理员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183794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  <a:latin typeface="Microsoft YaHei"/>
              </a:rPr>
              <a:t>admin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183794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  <a:latin typeface="Microsoft YaHei"/>
              </a:rPr>
              <a:t>admin123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183794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Microsoft YaHei"/>
              </a:rPr>
              <a:t>审核房源 / 查看统计 / 强制下架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331720"/>
            <a:ext cx="114300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2331720"/>
            <a:ext cx="36576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45973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Microsoft YaHei"/>
              </a:rPr>
              <a:t>房东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245973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  <a:latin typeface="Microsoft YaHei"/>
              </a:rPr>
              <a:t>landlord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245973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  <a:latin typeface="Microsoft YaHei"/>
              </a:rPr>
              <a:t>demo123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245973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Microsoft YaHei"/>
              </a:rPr>
              <a:t>管理房源 / 确认预约 / 下架上架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953512"/>
            <a:ext cx="11430000" cy="594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2953512"/>
            <a:ext cx="36576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08152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Microsoft YaHei"/>
              </a:rPr>
              <a:t>租客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308152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  <a:latin typeface="Microsoft YaHei"/>
              </a:rPr>
              <a:t>tenant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308152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  <a:latin typeface="Microsoft YaHei"/>
              </a:rPr>
              <a:t>demo123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308152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Microsoft YaHei"/>
              </a:rPr>
              <a:t>浏览搜索 / 预约看房 / 管理预约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Microsoft YaHei"/>
              </a:rPr>
              <a:t>推荐演示流程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407408"/>
            <a:ext cx="100584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448970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</a:rPr>
              <a:t>Step 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08760" y="4498848"/>
            <a:ext cx="10149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Microsoft YaHei"/>
              </a:rPr>
              <a:t>游客身份浏览首页 → 按城市快捷筛选 → 关键词搜索房源 → 查看房源详情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" y="486460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Microsoft YaHei"/>
              </a:rPr>
              <a:t>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974336"/>
            <a:ext cx="1005840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505663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</a:rPr>
              <a:t>Step 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08760" y="5065776"/>
            <a:ext cx="10149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Microsoft YaHei"/>
              </a:rPr>
              <a:t>租客登录 → 进入房源详情 → 填写预约时间和留言 → 提交预约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8" y="5431536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Microsoft YaHei"/>
              </a:rPr>
              <a:t>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541264"/>
            <a:ext cx="1005840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562356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</a:rPr>
              <a:t>Step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08760" y="5632704"/>
            <a:ext cx="10149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Microsoft YaHei"/>
              </a:rPr>
              <a:t>房东登录 → 个人中心 → 我的房源 → 查看待确认预约 → 点击确认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8" y="5998464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Microsoft YaHei"/>
              </a:rPr>
              <a:t>▼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6108192"/>
            <a:ext cx="1005840" cy="47548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619048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</a:rPr>
              <a:t>Step 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08760" y="6199631"/>
            <a:ext cx="10149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Microsoft YaHei"/>
              </a:rPr>
              <a:t>管理员登录 → 管理后台 → 统计面板 → 审核新提交房源 → 通过 / 拒绝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0"/>
            <a:ext cx="109728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6A9A"/>
                </a:solidFill>
                <a:latin typeface="Microsoft YaHe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3200" b="1">
                <a:solidFill>
                  <a:srgbClr val="FFFFFF"/>
                </a:solidFill>
                <a:latin typeface="Microsoft YaHei"/>
              </a:rPr>
              <a:t>总结与展望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93C5FD"/>
                </a:solidFill>
                <a:latin typeface="Microsoft YaHei"/>
              </a:rPr>
              <a:t>Summary &amp; Future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463040"/>
            <a:ext cx="45720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645920"/>
            <a:ext cx="4754880" cy="4846320"/>
          </a:xfrm>
          <a:prstGeom prst="rect">
            <a:avLst/>
          </a:prstGeom>
          <a:solidFill>
            <a:srgbClr val="15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645920"/>
            <a:ext cx="475488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67335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YaHei"/>
              </a:rPr>
              <a:t>已完成功能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0B981"/>
                </a:solidFill>
                <a:latin typeface="Microsoft YaHei"/>
              </a:rPr>
              <a:t>✓  多角色注册登录与权限体系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0B981"/>
                </a:solidFill>
                <a:latin typeface="Microsoft YaHei"/>
              </a:rPr>
              <a:t>✓  房源发布 / 审核 / 上下架完整流程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0B981"/>
                </a:solidFill>
                <a:latin typeface="Microsoft YaHei"/>
              </a:rPr>
              <a:t>✓  关键词 + 多维度房源搜索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0B981"/>
                </a:solidFill>
                <a:latin typeface="Microsoft YaHei"/>
              </a:rPr>
              <a:t>✓  在线预约看房全流程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0B981"/>
                </a:solidFill>
                <a:latin typeface="Microsoft YaHei"/>
              </a:rPr>
              <a:t>✓  管理员后台统计与房源管控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0B981"/>
                </a:solidFill>
                <a:latin typeface="Microsoft YaHei"/>
              </a:rPr>
              <a:t>✓  演示数据一键初始化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0B981"/>
                </a:solidFill>
                <a:latin typeface="Microsoft YaHei"/>
              </a:rPr>
              <a:t>✓  生产级 Gunicorn 部署配置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645920"/>
            <a:ext cx="5394960" cy="4846320"/>
          </a:xfrm>
          <a:prstGeom prst="rect">
            <a:avLst/>
          </a:prstGeom>
          <a:solidFill>
            <a:srgbClr val="15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1645920"/>
            <a:ext cx="5394960" cy="4114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67335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YaHei"/>
              </a:rPr>
              <a:t>未来展望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14884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6B6D4"/>
                </a:solidFill>
                <a:latin typeface="Microsoft YaHei"/>
              </a:rPr>
              <a:t>→  在线签约与电子合同模块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6B6D4"/>
                </a:solidFill>
                <a:latin typeface="Microsoft YaHei"/>
              </a:rPr>
              <a:t>→  支付宝 / 微信支付集成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6B6D4"/>
                </a:solidFill>
                <a:latin typeface="Microsoft YaHei"/>
              </a:rPr>
              <a:t>→  地图选址与周边配套展示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6B6D4"/>
                </a:solidFill>
                <a:latin typeface="Microsoft YaHei"/>
              </a:rPr>
              <a:t>→  即时通讯（租客与房东对话）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6B6D4"/>
                </a:solidFill>
                <a:latin typeface="Microsoft YaHei"/>
              </a:rPr>
              <a:t>→  房源评分与租客评价体系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6B6D4"/>
                </a:solidFill>
                <a:latin typeface="Microsoft YaHei"/>
              </a:rPr>
              <a:t>→  移动端响应式优化 / 小程序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